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30e4384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30e4384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30e4384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30e4384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30e4384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30e4384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30e43845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30e43845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30e4384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30e4384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0e43845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30e43845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30e43845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30e43845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30e43845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30e43845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a3a2b5afd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a3a2b5afd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a3a2b5af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a3a2b5af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a3a2b5afd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a3a2b5af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a3a2b5af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a3a2b5af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3a2b5af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a3a2b5af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3a2b5af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a3a2b5af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30e43845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30e43845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3a2b5afd_1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a3a2b5afd_1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3a2b5afd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3a2b5afd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a3a2b5afd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a3a2b5af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30e43845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30e43845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3db68cda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3db68cda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3db68cda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3db68cda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3db68cd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3db68cd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3db68cd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3db68cd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3db68cda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3db68cda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3db68cda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3db68cda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3db68cda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3db68cda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3db68cda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3db68cda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3db68cd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3db68cd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3db68cda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3db68cda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3db68cd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3db68cd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3db68cda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3db68cda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3db68cda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3db68cda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3db68cda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53db68cda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3db68cda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53db68cda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3db68cd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3db68cd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3db68cda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3db68cda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3db68cda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3db68cda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53db68cda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53db68cd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3db68cda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3db68cda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3db68cda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3db68cda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olab.research.google.com/drive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0000"/>
                </a:solidFill>
              </a:rPr>
              <a:t>Agentic </a:t>
            </a:r>
            <a:r>
              <a:rPr lang="en">
                <a:solidFill>
                  <a:srgbClr val="1C4587"/>
                </a:solidFill>
              </a:rPr>
              <a:t>RAG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Generative AI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Large Language Models (LLMs)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Retrieval Augmented Generation (RAG)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Agentic AI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Multi-Agentic AI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AI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10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Generate new contents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Multimodal (text, images, codes, audio)</a:t>
            </a:r>
            <a:endParaRPr sz="24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07275"/>
            <a:ext cx="4885778" cy="29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25000"/>
          </a:srgbClr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20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Trained on vast text (documents, </a:t>
            </a:r>
            <a:r>
              <a:rPr lang="en" sz="2000"/>
              <a:t>articles</a:t>
            </a:r>
            <a:r>
              <a:rPr lang="en" sz="2000"/>
              <a:t>, books, etc.)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Language structure; grammar, syntax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Predict next word or phrase in sentence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Answering questions, writing essays, summarization, translation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Generative AI; generate text response</a:t>
            </a:r>
            <a:endParaRPr sz="20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187" y="3172675"/>
            <a:ext cx="3147620" cy="166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>
            <a:alpha val="25000"/>
          </a:srgbClr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 Augmented Generation (RAG)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6388800" cy="12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LLMs trained on static data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Knowledge cutoff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ChatGPT</a:t>
            </a:r>
            <a:endParaRPr sz="20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000" y="2733675"/>
            <a:ext cx="2631550" cy="156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324" y="1315099"/>
            <a:ext cx="954675" cy="95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2357575"/>
            <a:ext cx="6388800" cy="17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RAG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Dynamic Knowledge Retrieval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Access to external data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Boost factuality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>
            <a:alpha val="25000"/>
          </a:srgbClr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4845" y="3154200"/>
            <a:ext cx="1175474" cy="111231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AI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6388800" cy="35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Query vs.</a:t>
            </a:r>
            <a:r>
              <a:rPr b="1" lang="en" sz="2000"/>
              <a:t> Objectives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Reactive vs. </a:t>
            </a:r>
            <a:r>
              <a:rPr b="1" lang="en" sz="2000"/>
              <a:t>Proactive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Autonomy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Pursue big objectives/goals instead of per query-basis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Plan, make decisions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Execution loops</a:t>
            </a:r>
            <a:endParaRPr sz="2000"/>
          </a:p>
        </p:txBody>
      </p:sp>
      <p:sp>
        <p:nvSpPr>
          <p:cNvPr id="92" name="Google Shape;92;p18"/>
          <p:cNvSpPr/>
          <p:nvPr/>
        </p:nvSpPr>
        <p:spPr>
          <a:xfrm>
            <a:off x="7032150" y="3758150"/>
            <a:ext cx="1178700" cy="7062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 rot="10800000">
            <a:off x="6929875" y="2960775"/>
            <a:ext cx="1178700" cy="7062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>
            <a:alpha val="25000"/>
          </a:srgbClr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Multi-Agents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6388800" cy="31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Compartmentalizing agents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General vs. Specialized</a:t>
            </a:r>
            <a:endParaRPr sz="2000"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475" y="2241900"/>
            <a:ext cx="3220275" cy="21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798" y="2241912"/>
            <a:ext cx="3609225" cy="2146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>
            <a:alpha val="25000"/>
          </a:srgbClr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 as Tools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225" y="2048275"/>
            <a:ext cx="1849500" cy="18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50" y="1899600"/>
            <a:ext cx="3220275" cy="21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 rotWithShape="1">
          <a:blip r:embed="rId5">
            <a:alphaModFix/>
          </a:blip>
          <a:srcRect b="11418" l="12153" r="41300" t="0"/>
          <a:stretch/>
        </p:blipFill>
        <p:spPr>
          <a:xfrm>
            <a:off x="4444800" y="2061522"/>
            <a:ext cx="1436851" cy="1823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0"/>
          <p:cNvCxnSpPr/>
          <p:nvPr/>
        </p:nvCxnSpPr>
        <p:spPr>
          <a:xfrm flipH="1" rot="10800000">
            <a:off x="3867375" y="2951725"/>
            <a:ext cx="24696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20"/>
          <p:cNvCxnSpPr/>
          <p:nvPr/>
        </p:nvCxnSpPr>
        <p:spPr>
          <a:xfrm>
            <a:off x="3804050" y="2976025"/>
            <a:ext cx="5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20"/>
          <p:cNvCxnSpPr/>
          <p:nvPr/>
        </p:nvCxnSpPr>
        <p:spPr>
          <a:xfrm>
            <a:off x="5963788" y="2951725"/>
            <a:ext cx="5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Generative AI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Large Language Models (LLMs)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Retrieval Augmented Generation (RAG)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Agentic AI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AutoNum type="arabicPeriod"/>
            </a:pPr>
            <a:r>
              <a:rPr lang="en" sz="2400"/>
              <a:t>Multi-Agentic AI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FE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r>
              <a:rPr lang="en"/>
              <a:t>Medication Information Retrieval Chatbot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152475"/>
            <a:ext cx="837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Patient prompt query or symptoms in natural language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 responds with drug suggestions and example cases for doctor suggestions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500" y="2829900"/>
            <a:ext cx="4124200" cy="176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25000"/>
          </a:srgbClr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25000"/>
          </a:srgbClr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</a:t>
            </a:r>
            <a:endParaRPr sz="3600"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Reference/Contextual Datasets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Storage and Retrieval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n"/>
              <a:t>Semantic Vector Search</a:t>
            </a:r>
            <a:endParaRPr i="1"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546" y="1017725"/>
            <a:ext cx="3880757" cy="310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25000"/>
          </a:srgbClr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Reference/Contextual Data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Datasets from Hugging Face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-"/>
            </a:pPr>
            <a:r>
              <a:rPr b="1" lang="en">
                <a:solidFill>
                  <a:schemeClr val="accent5"/>
                </a:solidFill>
              </a:rPr>
              <a:t>Drug Reviews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Drug 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Case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Review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1,000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-"/>
            </a:pPr>
            <a:r>
              <a:rPr b="1" lang="en">
                <a:solidFill>
                  <a:schemeClr val="accent5"/>
                </a:solidFill>
              </a:rPr>
              <a:t>Healthcare Conversation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Patient's symptoms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Doctor's suggestions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1,000 data</a:t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650" y="3120330"/>
            <a:ext cx="4943800" cy="13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7904" y="1861875"/>
            <a:ext cx="5852551" cy="66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25000"/>
          </a:srgbClr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Storage and Retrieval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017725"/>
            <a:ext cx="8520600" cy="3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MongoDB Atlas</a:t>
            </a:r>
            <a:endParaRPr b="1"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Storage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Retrieval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Full Text Search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Vector Search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Embeddings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Semantics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Hybrid Search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Rank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Weighting</a:t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67550"/>
            <a:ext cx="3216501" cy="12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25000"/>
          </a:srgbClr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Search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017725"/>
            <a:ext cx="8520600" cy="3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5"/>
                </a:solidFill>
              </a:rPr>
              <a:t>VoyageAI</a:t>
            </a:r>
            <a:endParaRPr b="1">
              <a:solidFill>
                <a:schemeClr val="accent5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Vector Embedding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Drug Reviews + Conversations</a:t>
            </a:r>
            <a:endParaRPr sz="1300"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8646" y="1999050"/>
            <a:ext cx="300741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>
            <a:alpha val="25000"/>
          </a:srgbClr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>
            <a:alpha val="25000"/>
          </a:srgbClr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Multi-Agents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778" y="2998082"/>
            <a:ext cx="1175474" cy="111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5270" y="1110550"/>
            <a:ext cx="1175474" cy="111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5295" y="2998082"/>
            <a:ext cx="1175474" cy="111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1741" y="1110550"/>
            <a:ext cx="1175474" cy="111231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/>
          <p:nvPr/>
        </p:nvSpPr>
        <p:spPr>
          <a:xfrm>
            <a:off x="2416465" y="2222870"/>
            <a:ext cx="144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Orchestrator Agent</a:t>
            </a:r>
            <a:endParaRPr i="1" sz="1100">
              <a:solidFill>
                <a:schemeClr val="dk2"/>
              </a:solidFill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4419986" y="2199239"/>
            <a:ext cx="144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Medication</a:t>
            </a:r>
            <a:r>
              <a:rPr i="1" lang="en" sz="1100">
                <a:solidFill>
                  <a:schemeClr val="dk2"/>
                </a:solidFill>
              </a:rPr>
              <a:t> Agent</a:t>
            </a:r>
            <a:endParaRPr i="1" sz="1100">
              <a:solidFill>
                <a:schemeClr val="dk2"/>
              </a:solidFill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4420011" y="4110401"/>
            <a:ext cx="144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Conversation History</a:t>
            </a:r>
            <a:r>
              <a:rPr i="1" lang="en" sz="1100">
                <a:solidFill>
                  <a:schemeClr val="dk2"/>
                </a:solidFill>
              </a:rPr>
              <a:t> Agent</a:t>
            </a:r>
            <a:endParaRPr i="1" sz="1100">
              <a:solidFill>
                <a:schemeClr val="dk2"/>
              </a:solidFill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2416494" y="4110401"/>
            <a:ext cx="144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</a:rPr>
              <a:t>Synthesizer </a:t>
            </a:r>
            <a:r>
              <a:rPr i="1" lang="en" sz="1100">
                <a:solidFill>
                  <a:schemeClr val="dk2"/>
                </a:solidFill>
              </a:rPr>
              <a:t>Agent</a:t>
            </a:r>
            <a:endParaRPr i="1" sz="1100">
              <a:solidFill>
                <a:schemeClr val="dk2"/>
              </a:solidFill>
            </a:endParaRPr>
          </a:p>
        </p:txBody>
      </p:sp>
      <p:cxnSp>
        <p:nvCxnSpPr>
          <p:cNvPr id="178" name="Google Shape;178;p29"/>
          <p:cNvCxnSpPr>
            <a:stCxn id="173" idx="3"/>
            <a:endCxn id="171" idx="1"/>
          </p:cNvCxnSpPr>
          <p:nvPr/>
        </p:nvCxnSpPr>
        <p:spPr>
          <a:xfrm>
            <a:off x="3727215" y="1666710"/>
            <a:ext cx="82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9"/>
          <p:cNvCxnSpPr>
            <a:stCxn id="174" idx="3"/>
            <a:endCxn id="172" idx="1"/>
          </p:cNvCxnSpPr>
          <p:nvPr/>
        </p:nvCxnSpPr>
        <p:spPr>
          <a:xfrm>
            <a:off x="3862465" y="2399870"/>
            <a:ext cx="692700" cy="115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9"/>
          <p:cNvCxnSpPr>
            <a:stCxn id="172" idx="1"/>
            <a:endCxn id="174" idx="3"/>
          </p:cNvCxnSpPr>
          <p:nvPr/>
        </p:nvCxnSpPr>
        <p:spPr>
          <a:xfrm rot="10800000">
            <a:off x="3862595" y="2399841"/>
            <a:ext cx="692700" cy="115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9"/>
          <p:cNvCxnSpPr>
            <a:stCxn id="171" idx="1"/>
            <a:endCxn id="173" idx="3"/>
          </p:cNvCxnSpPr>
          <p:nvPr/>
        </p:nvCxnSpPr>
        <p:spPr>
          <a:xfrm rot="10800000">
            <a:off x="3727270" y="1666710"/>
            <a:ext cx="82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9"/>
          <p:cNvCxnSpPr>
            <a:stCxn id="174" idx="2"/>
            <a:endCxn id="170" idx="0"/>
          </p:cNvCxnSpPr>
          <p:nvPr/>
        </p:nvCxnSpPr>
        <p:spPr>
          <a:xfrm>
            <a:off x="3139465" y="2576870"/>
            <a:ext cx="0" cy="42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29"/>
          <p:cNvSpPr/>
          <p:nvPr/>
        </p:nvSpPr>
        <p:spPr>
          <a:xfrm>
            <a:off x="311711" y="2248917"/>
            <a:ext cx="1248600" cy="659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/ Display</a:t>
            </a:r>
            <a:endParaRPr/>
          </a:p>
        </p:txBody>
      </p:sp>
      <p:cxnSp>
        <p:nvCxnSpPr>
          <p:cNvPr id="184" name="Google Shape;184;p29"/>
          <p:cNvCxnSpPr>
            <a:endCxn id="173" idx="1"/>
          </p:cNvCxnSpPr>
          <p:nvPr/>
        </p:nvCxnSpPr>
        <p:spPr>
          <a:xfrm flipH="1" rot="10800000">
            <a:off x="1761241" y="1666710"/>
            <a:ext cx="790500" cy="7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9"/>
          <p:cNvCxnSpPr>
            <a:stCxn id="170" idx="1"/>
          </p:cNvCxnSpPr>
          <p:nvPr/>
        </p:nvCxnSpPr>
        <p:spPr>
          <a:xfrm rot="10800000">
            <a:off x="1772978" y="2859141"/>
            <a:ext cx="778800" cy="6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9"/>
          <p:cNvCxnSpPr/>
          <p:nvPr/>
        </p:nvCxnSpPr>
        <p:spPr>
          <a:xfrm>
            <a:off x="5865990" y="1666710"/>
            <a:ext cx="82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9"/>
          <p:cNvCxnSpPr/>
          <p:nvPr/>
        </p:nvCxnSpPr>
        <p:spPr>
          <a:xfrm rot="10800000">
            <a:off x="5866045" y="1666710"/>
            <a:ext cx="82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9"/>
          <p:cNvCxnSpPr/>
          <p:nvPr/>
        </p:nvCxnSpPr>
        <p:spPr>
          <a:xfrm>
            <a:off x="5865965" y="3554247"/>
            <a:ext cx="82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9"/>
          <p:cNvCxnSpPr/>
          <p:nvPr/>
        </p:nvCxnSpPr>
        <p:spPr>
          <a:xfrm rot="10800000">
            <a:off x="5866020" y="3554247"/>
            <a:ext cx="82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9"/>
          <p:cNvSpPr/>
          <p:nvPr/>
        </p:nvSpPr>
        <p:spPr>
          <a:xfrm>
            <a:off x="7047975" y="1233225"/>
            <a:ext cx="628325" cy="8669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/>
          <p:nvPr/>
        </p:nvSpPr>
        <p:spPr>
          <a:xfrm>
            <a:off x="7047975" y="3243425"/>
            <a:ext cx="628325" cy="866975"/>
          </a:xfrm>
          <a:prstGeom prst="flowChartMagneticDisk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/>
        </p:nvSpPr>
        <p:spPr>
          <a:xfrm>
            <a:off x="6639148" y="2124426"/>
            <a:ext cx="144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Drug Reviews</a:t>
            </a:r>
            <a:endParaRPr i="1" sz="900">
              <a:solidFill>
                <a:schemeClr val="dk2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6502648" y="4110400"/>
            <a:ext cx="171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2"/>
                </a:solidFill>
              </a:rPr>
              <a:t>Conversation History</a:t>
            </a:r>
            <a:endParaRPr i="1" sz="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>
            <a:alpha val="25000"/>
          </a:srgbClr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System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>
            <a:alpha val="25000"/>
          </a:srgbClr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System</a:t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Store conversation on MongoDB Atlas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Re-feed whole conversation back as part of the query for extra contextual data for AI agents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7725" y="2571750"/>
            <a:ext cx="2428550" cy="148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we’ll need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Google Colab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MongoDB Atlas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VoyageAI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AutoNum type="arabicPeriod"/>
            </a:pPr>
            <a:r>
              <a:rPr lang="en" sz="2400"/>
              <a:t>OpenAI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40">
                <a:uFill>
                  <a:noFill/>
                </a:uFill>
                <a:hlinkClick r:id="rId3"/>
              </a:rPr>
              <a:t>https://colab.research.google.com/drive/</a:t>
            </a:r>
            <a:endParaRPr sz="164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40"/>
              <a:t>1jiS7i_hb28mPlHduK-NPnQwJSql6HbCm?usp=sharing</a:t>
            </a:r>
            <a:endParaRPr sz="164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383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 title="colab_secre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2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</a:t>
            </a:r>
            <a:r>
              <a:rPr b="1" lang="en">
                <a:solidFill>
                  <a:srgbClr val="38761D"/>
                </a:solidFill>
              </a:rPr>
              <a:t>MongoDB Atlas</a:t>
            </a:r>
            <a:endParaRPr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6" title="mongodb_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4931"/>
            <a:ext cx="9144000" cy="263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7" title="mongodb_createproje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325" y="152400"/>
            <a:ext cx="621736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8" title="mongodb_createprojec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888" y="152400"/>
            <a:ext cx="734823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9" title="mongodb_createclus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9763"/>
            <a:ext cx="8839200" cy="3903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40" title="mongodb_createdeploy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163" y="152400"/>
            <a:ext cx="634167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 title="mongodb_createdbu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2075" y="152400"/>
            <a:ext cx="565985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2" title="mongodb_driv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500" y="152400"/>
            <a:ext cx="47089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3" title="mongodb_ur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388" y="152400"/>
            <a:ext cx="51852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4" title="mongodb_net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4063"/>
            <a:ext cx="8839198" cy="3515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5" title="mongodb_allowacc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425" y="438150"/>
            <a:ext cx="615315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</a:t>
            </a:r>
            <a:r>
              <a:rPr b="1" lang="en">
                <a:solidFill>
                  <a:srgbClr val="1C3410"/>
                </a:solidFill>
              </a:rPr>
              <a:t> VoyageAI</a:t>
            </a:r>
            <a:endParaRPr b="1">
              <a:solidFill>
                <a:srgbClr val="1C341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7" title="voyage_apikey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9350"/>
            <a:ext cx="8839200" cy="2344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48" title="voyage_createsecr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88" y="585788"/>
            <a:ext cx="6067425" cy="397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9" title="voyage_copyk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375" y="695325"/>
            <a:ext cx="61912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Setting Up</a:t>
            </a:r>
            <a:r>
              <a:rPr b="1" lang="en">
                <a:solidFill>
                  <a:schemeClr val="lt1"/>
                </a:solidFill>
              </a:rPr>
              <a:t> OpenAI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1" title="openai_apikey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8938"/>
            <a:ext cx="8839201" cy="422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2" title="openai_createk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113" y="152400"/>
            <a:ext cx="449177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53" title="openai_copyke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863" y="628650"/>
            <a:ext cx="44862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